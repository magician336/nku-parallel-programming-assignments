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5715000" cy="9144000" type="screen16x10"/>
  <p:notesSz cx="6858000" cy="9144000"/>
  <p:defaultTextStyle>
    <a:defPPr>
      <a:defRPr lang="zh-CN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60"/>
  </p:normalViewPr>
  <p:slideViewPr>
    <p:cSldViewPr snapToGrid="0">
      <p:cViewPr varScale="1">
        <p:scale>
          <a:sx n="90" d="100"/>
          <a:sy n="90" d="100"/>
        </p:scale>
        <p:origin x="318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雨课堂试卷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D1822C-7403-4131-BD72-C5E056A274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5750" y="3810000"/>
            <a:ext cx="5143500" cy="1524000"/>
          </a:xfrm>
          <a:prstGeom prst="rect">
            <a:avLst/>
          </a:prstGeom>
        </p:spPr>
        <p:txBody>
          <a:bodyPr vert="horz" anchor="ctr" anchorCtr="1"/>
          <a:lstStyle>
            <a:lvl1pPr>
              <a:defRPr sz="2600"/>
            </a:lvl1pPr>
          </a:lstStyle>
          <a:p>
            <a:r>
              <a:rPr lang="zh-CN" altLang="en-US"/>
              <a:t>请填写试卷标题</a:t>
            </a:r>
          </a:p>
        </p:txBody>
      </p:sp>
    </p:spTree>
    <p:extLst>
      <p:ext uri="{BB962C8B-B14F-4D97-AF65-F5344CB8AC3E}">
        <p14:creationId xmlns:p14="http://schemas.microsoft.com/office/powerpoint/2010/main" val="1961784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7262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485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385763" rtl="0" eaLnBrk="1" latinLnBrk="0" hangingPunct="1">
        <a:lnSpc>
          <a:spcPct val="90000"/>
        </a:lnSpc>
        <a:spcBef>
          <a:spcPct val="0"/>
        </a:spcBef>
        <a:buNone/>
        <a:defRPr sz="18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6441" indent="-96441" algn="l" defTabSz="385763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1pPr>
      <a:lvl2pPr marL="289322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482204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3pPr>
      <a:lvl4pPr marL="675085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867966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1060847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253729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446610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639491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2881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3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644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406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288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169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image" Target="../media/image1.tmp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10" Type="http://schemas.openxmlformats.org/officeDocument/2006/relationships/tags" Target="../tags/tag12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13" Type="http://schemas.openxmlformats.org/officeDocument/2006/relationships/tags" Target="../tags/tag31.xml"/><Relationship Id="rId18" Type="http://schemas.openxmlformats.org/officeDocument/2006/relationships/image" Target="../media/image1.tmp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tags" Target="../tags/tag30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20.xml"/><Relationship Id="rId16" Type="http://schemas.openxmlformats.org/officeDocument/2006/relationships/tags" Target="../tags/tag34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tags" Target="../tags/tag29.xml"/><Relationship Id="rId5" Type="http://schemas.openxmlformats.org/officeDocument/2006/relationships/tags" Target="../tags/tag23.xml"/><Relationship Id="rId15" Type="http://schemas.openxmlformats.org/officeDocument/2006/relationships/tags" Target="../tags/tag33.xml"/><Relationship Id="rId10" Type="http://schemas.openxmlformats.org/officeDocument/2006/relationships/tags" Target="../tags/tag28.xml"/><Relationship Id="rId4" Type="http://schemas.openxmlformats.org/officeDocument/2006/relationships/tags" Target="../tags/tag22.xml"/><Relationship Id="rId9" Type="http://schemas.openxmlformats.org/officeDocument/2006/relationships/tags" Target="../tags/tag27.xml"/><Relationship Id="rId14" Type="http://schemas.openxmlformats.org/officeDocument/2006/relationships/tags" Target="../tags/tag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7E69F9-6B9D-41C3-8482-4D5D712E2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SIMD</a:t>
            </a:r>
            <a:r>
              <a:rPr lang="zh-CN" altLang="en-US" dirty="0"/>
              <a:t>编程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2C1760D-74E7-48BB-9E02-82097326799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841500" y="5842000"/>
            <a:ext cx="2032000" cy="5080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 anchorCtr="1">
            <a:no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</a:rPr>
              <a:t>总分</a:t>
            </a:r>
            <a:r>
              <a:rPr lang="en-US" altLang="zh-CN" sz="2000" dirty="0">
                <a:solidFill>
                  <a:srgbClr val="000000"/>
                </a:solidFill>
              </a:rPr>
              <a:t>: 15</a:t>
            </a:r>
            <a:endParaRPr lang="zh-CN" altLang="en-US" sz="2000" dirty="0">
              <a:solidFill>
                <a:srgbClr val="00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0B5FE55-C2F3-4FF3-80DC-0AEF06A93098}"/>
              </a:ext>
            </a:extLst>
          </p:cNvPr>
          <p:cNvSpPr txBox="1"/>
          <p:nvPr/>
        </p:nvSpPr>
        <p:spPr>
          <a:xfrm>
            <a:off x="127000" y="7874000"/>
            <a:ext cx="5461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txBody>
          <a:bodyPr vert="horz" wrap="square" rtlCol="0" anchor="ctr">
            <a:noAutofit/>
          </a:bodyPr>
          <a:lstStyle/>
          <a:p>
            <a:r>
              <a:rPr lang="zh-CN" altLang="en-US" sz="2000">
                <a:solidFill>
                  <a:srgbClr val="FF0000"/>
                </a:solidFill>
              </a:rPr>
              <a:t>*此封面页请勿删除，删除后将无法上传至试卷库，添加菜单栏任意题型即可制作试卷。本提示将在上传时自动隐藏。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82555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0EB4949F-D931-4B68-A33B-D26EE16EA9A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634999"/>
            <a:ext cx="5715000" cy="7572375"/>
          </a:xfrm>
          <a:prstGeom prst="rect">
            <a:avLst/>
          </a:prstGeom>
          <a:noFill/>
        </p:spPr>
        <p:txBody>
          <a:bodyPr vert="horz" wrap="square" rtlCol="0" anchor="t" anchorCtr="0">
            <a:noAutofit/>
          </a:bodyPr>
          <a:lstStyle/>
          <a:p>
            <a:r>
              <a:rPr lang="zh-CN" altLang="zh-CN" b="1" dirty="0"/>
              <a:t>一、选题</a:t>
            </a:r>
            <a:r>
              <a:rPr lang="zh-CN" altLang="en-US" b="1" dirty="0"/>
              <a:t>：五选一（后续并行编程实验作业类似）</a:t>
            </a:r>
            <a:endParaRPr lang="zh-CN" altLang="zh-CN" dirty="0"/>
          </a:p>
          <a:p>
            <a:r>
              <a:rPr lang="zh-CN" altLang="en-US" dirty="0"/>
              <a:t>高斯消去法、</a:t>
            </a:r>
            <a:r>
              <a:rPr lang="en-US" altLang="zh-CN" dirty="0"/>
              <a:t>ANN</a:t>
            </a:r>
            <a:r>
              <a:rPr lang="zh-CN" altLang="en-US" dirty="0"/>
              <a:t>、</a:t>
            </a:r>
            <a:r>
              <a:rPr lang="en-US" altLang="zh-CN" dirty="0"/>
              <a:t>NTT</a:t>
            </a:r>
            <a:r>
              <a:rPr lang="zh-CN" altLang="en-US" dirty="0"/>
              <a:t>、密码学、</a:t>
            </a:r>
            <a:r>
              <a:rPr lang="en-US" altLang="zh-CN" dirty="0"/>
              <a:t>SVD</a:t>
            </a:r>
            <a:r>
              <a:rPr lang="zh-CN" altLang="en-US" dirty="0"/>
              <a:t>算子五个题目选择其一，进行</a:t>
            </a:r>
            <a:r>
              <a:rPr lang="en-US" altLang="zh-CN" dirty="0"/>
              <a:t>SIMD</a:t>
            </a:r>
            <a:r>
              <a:rPr lang="zh-CN" altLang="en-US" dirty="0"/>
              <a:t>并行化，五个选题的基本介绍见相应实验指导书，</a:t>
            </a:r>
            <a:r>
              <a:rPr lang="en-US" altLang="zh-CN" dirty="0"/>
              <a:t>SIMD</a:t>
            </a:r>
            <a:r>
              <a:rPr lang="zh-CN" altLang="en-US" dirty="0"/>
              <a:t>并行化方法见本次实验指导书。</a:t>
            </a:r>
            <a:endParaRPr lang="en-US" altLang="zh-CN" dirty="0"/>
          </a:p>
          <a:p>
            <a:r>
              <a:rPr lang="zh-CN" altLang="en-US" dirty="0"/>
              <a:t>注意：几次并行编程实验作业和期末研究报告选题一般情况应一致。</a:t>
            </a:r>
            <a:endParaRPr lang="zh-CN" altLang="zh-CN" dirty="0"/>
          </a:p>
          <a:p>
            <a:pPr lvl="0"/>
            <a:endParaRPr lang="zh-CN" altLang="zh-CN" dirty="0"/>
          </a:p>
          <a:p>
            <a:r>
              <a:rPr lang="zh-CN" altLang="en-US" b="1" dirty="0"/>
              <a:t>二</a:t>
            </a:r>
            <a:r>
              <a:rPr lang="zh-CN" altLang="zh-CN" b="1" dirty="0"/>
              <a:t>、</a:t>
            </a:r>
            <a:r>
              <a:rPr lang="zh-CN" altLang="en-US" b="1" dirty="0"/>
              <a:t>基础</a:t>
            </a:r>
            <a:r>
              <a:rPr lang="zh-CN" altLang="zh-CN" b="1" dirty="0"/>
              <a:t>要求</a:t>
            </a:r>
            <a:endParaRPr lang="zh-CN" altLang="zh-CN" dirty="0"/>
          </a:p>
          <a:p>
            <a:pPr marL="342900" lvl="0" indent="-342900">
              <a:buFont typeface="+mj-lt"/>
              <a:buAutoNum type="arabicPeriod"/>
            </a:pPr>
            <a:r>
              <a:rPr lang="zh-CN" altLang="en-US" b="1" dirty="0"/>
              <a:t>高斯消去（基础要求得分最高为满分的</a:t>
            </a:r>
            <a:r>
              <a:rPr lang="en-US" altLang="zh-CN" b="1" dirty="0"/>
              <a:t>80%</a:t>
            </a:r>
            <a:r>
              <a:rPr lang="zh-CN" altLang="en-US" b="1" dirty="0"/>
              <a:t>，本次作业为</a:t>
            </a:r>
            <a:r>
              <a:rPr lang="en-US" altLang="zh-CN" b="1" dirty="0"/>
              <a:t>12</a:t>
            </a:r>
            <a:r>
              <a:rPr lang="zh-CN" altLang="en-US" b="1" dirty="0"/>
              <a:t>分）</a:t>
            </a:r>
            <a:r>
              <a:rPr lang="zh-CN" altLang="en-US" dirty="0"/>
              <a:t>： </a:t>
            </a:r>
            <a:r>
              <a:rPr lang="en-US" altLang="zh-CN" dirty="0"/>
              <a:t>x86</a:t>
            </a:r>
            <a:r>
              <a:rPr lang="zh-CN" altLang="en-US" dirty="0"/>
              <a:t>或</a:t>
            </a:r>
            <a:r>
              <a:rPr lang="en-US" altLang="zh-CN" dirty="0"/>
              <a:t>ARM</a:t>
            </a:r>
            <a:r>
              <a:rPr lang="zh-CN" altLang="en-US" dirty="0"/>
              <a:t>平台（如</a:t>
            </a:r>
            <a:r>
              <a:rPr lang="en-US" altLang="zh-CN" dirty="0"/>
              <a:t>M</a:t>
            </a:r>
            <a:r>
              <a:rPr lang="zh-CN" altLang="en-US" dirty="0"/>
              <a:t>系列芯片的</a:t>
            </a:r>
            <a:r>
              <a:rPr lang="en-US" altLang="zh-CN" dirty="0"/>
              <a:t>mac</a:t>
            </a:r>
            <a:r>
              <a:rPr lang="zh-CN" altLang="en-US" dirty="0"/>
              <a:t>、华为鲲鹏</a:t>
            </a:r>
            <a:r>
              <a:rPr lang="en-US" altLang="zh-CN" dirty="0"/>
              <a:t>920</a:t>
            </a:r>
            <a:r>
              <a:rPr lang="zh-CN" altLang="en-US" dirty="0"/>
              <a:t>）上普通高斯消去计算的基础</a:t>
            </a:r>
            <a:r>
              <a:rPr lang="en-US" altLang="zh-CN" dirty="0"/>
              <a:t>SIMD</a:t>
            </a:r>
            <a:r>
              <a:rPr lang="zh-CN" altLang="en-US" dirty="0"/>
              <a:t>并行化实验，包括：</a:t>
            </a:r>
            <a:endParaRPr lang="en-US" altLang="zh-CN" dirty="0"/>
          </a:p>
          <a:p>
            <a:pPr marL="699516" lvl="1" indent="-342900">
              <a:buFont typeface="+mj-lt"/>
              <a:buAutoNum type="alphaLcParenR"/>
            </a:pPr>
            <a:r>
              <a:rPr lang="zh-CN" altLang="en-US" dirty="0"/>
              <a:t>设计</a:t>
            </a:r>
            <a:r>
              <a:rPr lang="en-US" altLang="zh-CN" dirty="0"/>
              <a:t>SSE/AVX</a:t>
            </a:r>
            <a:r>
              <a:rPr lang="zh-CN" altLang="en-US" dirty="0"/>
              <a:t>或</a:t>
            </a:r>
            <a:r>
              <a:rPr lang="en-US" altLang="zh-CN" dirty="0"/>
              <a:t>Neon</a:t>
            </a:r>
            <a:r>
              <a:rPr lang="zh-CN" altLang="en-US" dirty="0"/>
              <a:t>算法、编程实现、进行实验；</a:t>
            </a:r>
            <a:endParaRPr lang="en-US" altLang="zh-CN" dirty="0"/>
          </a:p>
          <a:p>
            <a:pPr marL="699516" lvl="1" indent="-342900">
              <a:buFont typeface="+mj-lt"/>
              <a:buAutoNum type="alphaLcParenR"/>
            </a:pPr>
            <a:r>
              <a:rPr lang="zh-CN" altLang="en-US" dirty="0"/>
              <a:t>讨论一些基本的算法</a:t>
            </a:r>
            <a:r>
              <a:rPr lang="en-US" altLang="zh-CN" dirty="0"/>
              <a:t>/</a:t>
            </a:r>
            <a:r>
              <a:rPr lang="zh-CN" altLang="en-US" dirty="0"/>
              <a:t>编程策略对性能的影响，如对齐与不对齐、选择对串行算法的不同部分（</a:t>
            </a:r>
            <a:r>
              <a:rPr lang="en-US" altLang="zh-CN" dirty="0"/>
              <a:t>4-6</a:t>
            </a:r>
            <a:r>
              <a:rPr lang="zh-CN" altLang="en-US" dirty="0"/>
              <a:t>行除法、</a:t>
            </a:r>
            <a:r>
              <a:rPr lang="en-US" altLang="zh-CN" dirty="0"/>
              <a:t>8-13</a:t>
            </a:r>
            <a:r>
              <a:rPr lang="zh-CN" altLang="en-US" dirty="0"/>
              <a:t>行消去）进行向量化等；</a:t>
            </a:r>
            <a:endParaRPr lang="en-US" altLang="zh-CN" dirty="0"/>
          </a:p>
          <a:p>
            <a:pPr marL="699516" lvl="1" indent="-342900">
              <a:buFont typeface="+mj-lt"/>
              <a:buAutoNum type="alphaLcParenR"/>
            </a:pPr>
            <a:r>
              <a:rPr lang="zh-CN" altLang="en-US" dirty="0"/>
              <a:t>讨论体系结构相关优化（如</a:t>
            </a:r>
            <a:r>
              <a:rPr lang="en-US" altLang="zh-CN" dirty="0"/>
              <a:t>cache</a:t>
            </a:r>
            <a:r>
              <a:rPr lang="zh-CN" altLang="en-US" dirty="0"/>
              <a:t>优化）策略；</a:t>
            </a:r>
            <a:endParaRPr lang="en-US" altLang="zh-CN" dirty="0"/>
          </a:p>
          <a:p>
            <a:pPr marL="699516" lvl="1" indent="-342900">
              <a:buFont typeface="+mj-lt"/>
              <a:buAutoNum type="alphaLcParenR"/>
            </a:pPr>
            <a:r>
              <a:rPr lang="zh-CN" altLang="en-US" dirty="0"/>
              <a:t>实验中应测试不同问题规模下串行算法</a:t>
            </a:r>
            <a:r>
              <a:rPr lang="en-US" altLang="zh-CN" dirty="0"/>
              <a:t>/</a:t>
            </a:r>
            <a:r>
              <a:rPr lang="zh-CN" altLang="en-US" dirty="0"/>
              <a:t>并行算法的性能、不同算法</a:t>
            </a:r>
            <a:r>
              <a:rPr lang="en-US" altLang="zh-CN" dirty="0"/>
              <a:t>/</a:t>
            </a:r>
            <a:r>
              <a:rPr lang="zh-CN" altLang="en-US" dirty="0"/>
              <a:t>编程策略对性能的影响等；</a:t>
            </a:r>
            <a:endParaRPr lang="en-US" altLang="zh-CN" dirty="0"/>
          </a:p>
          <a:p>
            <a:pPr marL="699516" lvl="1" indent="-342900">
              <a:buFont typeface="+mj-lt"/>
              <a:buAutoNum type="alphaLcParenR"/>
            </a:pPr>
            <a:r>
              <a:rPr lang="zh-CN" altLang="en-US" dirty="0"/>
              <a:t>利用</a:t>
            </a:r>
            <a:r>
              <a:rPr lang="en-US" altLang="zh-CN" dirty="0"/>
              <a:t>perf</a:t>
            </a:r>
            <a:r>
              <a:rPr lang="zh-CN" altLang="en-US" dirty="0"/>
              <a:t>等工具进行性能剖析、利用编译器输出汇编代码，来细致分析程序性能表现的内在原因。</a:t>
            </a:r>
            <a:endParaRPr lang="en-US" altLang="zh-CN" dirty="0"/>
          </a:p>
          <a:p>
            <a:pPr marL="699516" lvl="1" indent="-342900">
              <a:buFont typeface="+mj-lt"/>
              <a:buAutoNum type="alphaLcParenR"/>
            </a:pPr>
            <a:r>
              <a:rPr lang="zh-CN" altLang="zh-CN" dirty="0"/>
              <a:t>撰写研究报告</a:t>
            </a:r>
            <a:r>
              <a:rPr lang="zh-CN" altLang="en-US" dirty="0"/>
              <a:t>，内容包括</a:t>
            </a:r>
            <a:r>
              <a:rPr lang="zh-CN" altLang="zh-CN" dirty="0"/>
              <a:t>问题描述、</a:t>
            </a:r>
            <a:r>
              <a:rPr lang="en-US" altLang="zh-CN" dirty="0"/>
              <a:t>SIMD</a:t>
            </a:r>
            <a:r>
              <a:rPr lang="zh-CN" altLang="zh-CN" dirty="0"/>
              <a:t>算法设计（最好有复杂性分析）与实现、实验及结果分析，符合科技论文写作规范，</a:t>
            </a:r>
            <a:r>
              <a:rPr lang="zh-CN" altLang="en-US" dirty="0"/>
              <a:t>附</a:t>
            </a:r>
            <a:r>
              <a:rPr lang="en-US" altLang="zh-CN" dirty="0"/>
              <a:t>Git</a:t>
            </a:r>
            <a:r>
              <a:rPr lang="zh-CN" altLang="en-US" dirty="0"/>
              <a:t>项目链接</a:t>
            </a:r>
            <a:r>
              <a:rPr lang="zh-CN" altLang="zh-CN" dirty="0"/>
              <a:t>。</a:t>
            </a:r>
            <a:r>
              <a:rPr lang="zh-CN" altLang="en-US" dirty="0"/>
              <a:t>篇幅不超过</a:t>
            </a:r>
            <a:r>
              <a:rPr lang="en-US" altLang="zh-CN" dirty="0"/>
              <a:t>15</a:t>
            </a:r>
            <a:r>
              <a:rPr lang="zh-CN" altLang="en-US" dirty="0"/>
              <a:t>页。</a:t>
            </a:r>
            <a:endParaRPr lang="en-US" altLang="zh-CN" dirty="0"/>
          </a:p>
          <a:p>
            <a:pPr marL="342900" lvl="0" indent="-342900">
              <a:buFont typeface="+mj-lt"/>
              <a:buAutoNum type="arabicPeriod"/>
            </a:pPr>
            <a:r>
              <a:rPr lang="en-US" altLang="zh-CN" b="1" dirty="0"/>
              <a:t>ANN</a:t>
            </a:r>
            <a:r>
              <a:rPr lang="zh-CN" altLang="en-US" b="1" dirty="0"/>
              <a:t>、</a:t>
            </a:r>
            <a:r>
              <a:rPr lang="en-US" altLang="zh-CN" b="1" dirty="0"/>
              <a:t>NTT</a:t>
            </a:r>
            <a:r>
              <a:rPr lang="zh-CN" altLang="en-US" b="1" dirty="0"/>
              <a:t>和口令猜测（基础要求得分最高为满分的</a:t>
            </a:r>
            <a:r>
              <a:rPr lang="en-US" altLang="zh-CN" b="1" dirty="0"/>
              <a:t>90%</a:t>
            </a:r>
            <a:r>
              <a:rPr lang="zh-CN" altLang="en-US" b="1" dirty="0"/>
              <a:t>，本次作业为</a:t>
            </a:r>
            <a:r>
              <a:rPr lang="en-US" altLang="zh-CN" b="1" dirty="0"/>
              <a:t>13.5</a:t>
            </a:r>
            <a:r>
              <a:rPr lang="zh-CN" altLang="en-US" b="1" dirty="0"/>
              <a:t>分）</a:t>
            </a:r>
            <a:r>
              <a:rPr lang="zh-CN" altLang="en-US" dirty="0"/>
              <a:t>：</a:t>
            </a:r>
            <a:r>
              <a:rPr lang="en-US" altLang="zh-CN" dirty="0"/>
              <a:t> </a:t>
            </a:r>
            <a:r>
              <a:rPr lang="zh-CN" altLang="en-US" dirty="0"/>
              <a:t>内容类似基本要求。注意，分数上限高于高斯消去并不意味着实际得分必然高，视实际完成情况而定。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en-US" altLang="zh-CN" b="1" dirty="0"/>
              <a:t>SVD</a:t>
            </a:r>
            <a:r>
              <a:rPr lang="zh-CN" altLang="en-US" b="1" dirty="0"/>
              <a:t>算子（基础要求得分最高为满分的</a:t>
            </a:r>
            <a:r>
              <a:rPr lang="en-US" altLang="zh-CN" b="1" dirty="0"/>
              <a:t>100%</a:t>
            </a:r>
            <a:r>
              <a:rPr lang="zh-CN" altLang="en-US" b="1" dirty="0"/>
              <a:t>，本次作业为</a:t>
            </a:r>
            <a:r>
              <a:rPr lang="en-US" altLang="zh-CN" b="1" dirty="0"/>
              <a:t>15</a:t>
            </a:r>
            <a:r>
              <a:rPr lang="zh-CN" altLang="en-US" b="1" dirty="0"/>
              <a:t>分）</a:t>
            </a:r>
            <a:r>
              <a:rPr lang="zh-CN" altLang="en-US" dirty="0"/>
              <a:t>：</a:t>
            </a:r>
            <a:r>
              <a:rPr lang="en-US" altLang="zh-CN" dirty="0"/>
              <a:t> </a:t>
            </a:r>
            <a:r>
              <a:rPr lang="zh-CN" altLang="en-US" dirty="0"/>
              <a:t>内容类似基本要求。注意，分数上限高于其他四个选题并不意味着实际得分必然高，视实际完成情况而定。</a:t>
            </a:r>
            <a:endParaRPr lang="zh-CN" altLang="zh-CN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BAAD9DE-EB78-4700-A73F-C2061EC1FF9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sp>
        <p:nvSpPr>
          <p:cNvPr id="12" name="矩形 11" hidden="1">
            <a:extLst>
              <a:ext uri="{FF2B5EF4-FFF2-40B4-BE49-F238E27FC236}">
                <a16:creationId xmlns:a16="http://schemas.microsoft.com/office/drawing/2014/main" id="{7A532EE4-4327-46BD-BB9E-53F7E23F9151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7" name="文本框 16" hidden="1">
            <a:extLst>
              <a:ext uri="{FF2B5EF4-FFF2-40B4-BE49-F238E27FC236}">
                <a16:creationId xmlns:a16="http://schemas.microsoft.com/office/drawing/2014/main" id="{1DC77BFC-C8B6-4964-B43B-DCB46B4513E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18" name="文本框 17" hidden="1">
            <a:extLst>
              <a:ext uri="{FF2B5EF4-FFF2-40B4-BE49-F238E27FC236}">
                <a16:creationId xmlns:a16="http://schemas.microsoft.com/office/drawing/2014/main" id="{2F3BA613-906C-4F7E-9545-5B4E18EE593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350000" y="1270000"/>
            <a:ext cx="4612640" cy="190500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此处添加答案解析</a:t>
            </a:r>
          </a:p>
        </p:txBody>
      </p:sp>
      <p:grpSp>
        <p:nvGrpSpPr>
          <p:cNvPr id="16" name="组合 15" hidden="1">
            <a:extLst>
              <a:ext uri="{FF2B5EF4-FFF2-40B4-BE49-F238E27FC236}">
                <a16:creationId xmlns:a16="http://schemas.microsoft.com/office/drawing/2014/main" id="{8094A5E6-38E2-421E-9349-DAD6344CA4F6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13" name="RemarkBack" hidden="1">
              <a:extLst>
                <a:ext uri="{FF2B5EF4-FFF2-40B4-BE49-F238E27FC236}">
                  <a16:creationId xmlns:a16="http://schemas.microsoft.com/office/drawing/2014/main" id="{E151523A-162A-4DC7-8B3A-4E8646C6824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RemarkBlock" hidden="1">
              <a:extLst>
                <a:ext uri="{FF2B5EF4-FFF2-40B4-BE49-F238E27FC236}">
                  <a16:creationId xmlns:a16="http://schemas.microsoft.com/office/drawing/2014/main" id="{46CB9BE8-ABF5-476E-AEF1-0A391167ED5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RemarkTitleText" hidden="1">
              <a:extLst>
                <a:ext uri="{FF2B5EF4-FFF2-40B4-BE49-F238E27FC236}">
                  <a16:creationId xmlns:a16="http://schemas.microsoft.com/office/drawing/2014/main" id="{DE3F1CD5-B80D-44A8-9477-23D015EAB726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DF90F35-0C7F-426F-8EAB-71862230F6D9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DF222A90-94AC-4E86-8347-C91EF71E85A7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0ADDDE70-69FC-43F6-8995-F5149CF5ECB1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BFBDE1A9-C343-4924-BF9E-8B9BE6BF2BD8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400DF923-22EE-45B8-B11F-B69D1BBF1255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dirty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15</a:t>
              </a:r>
              <a:r>
                <a:rPr lang="zh-CN" altLang="en-US" sz="2000" dirty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8EC1FD1B-47AE-4EDD-A64E-A87102C7E234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02619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0EB4949F-D931-4B68-A33B-D26EE16EA9A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634999"/>
            <a:ext cx="5715000" cy="7572375"/>
          </a:xfrm>
          <a:prstGeom prst="rect">
            <a:avLst/>
          </a:prstGeom>
          <a:noFill/>
        </p:spPr>
        <p:txBody>
          <a:bodyPr vert="horz" wrap="square" rtlCol="0" anchor="t" anchorCtr="0">
            <a:noAutofit/>
          </a:bodyPr>
          <a:lstStyle/>
          <a:p>
            <a:r>
              <a:rPr lang="zh-CN" altLang="en-US" b="1" dirty="0"/>
              <a:t>三</a:t>
            </a:r>
            <a:r>
              <a:rPr lang="zh-CN" altLang="zh-CN" b="1" dirty="0"/>
              <a:t>、</a:t>
            </a:r>
            <a:r>
              <a:rPr lang="zh-CN" altLang="en-US" b="1" dirty="0"/>
              <a:t>进阶</a:t>
            </a:r>
            <a:r>
              <a:rPr lang="zh-CN" altLang="zh-CN" b="1" dirty="0"/>
              <a:t>要求</a:t>
            </a:r>
            <a:r>
              <a:rPr lang="zh-CN" altLang="en-US" b="1" dirty="0"/>
              <a:t>（高斯消去</a:t>
            </a:r>
            <a:r>
              <a:rPr lang="en-US" altLang="zh-CN" b="1" dirty="0"/>
              <a:t>20%</a:t>
            </a:r>
            <a:r>
              <a:rPr lang="zh-CN" altLang="en-US" b="1" dirty="0"/>
              <a:t>分数</a:t>
            </a:r>
            <a:r>
              <a:rPr lang="en-US" altLang="zh-CN" b="1" dirty="0"/>
              <a:t>3</a:t>
            </a:r>
            <a:r>
              <a:rPr lang="zh-CN" altLang="en-US" b="1" dirty="0"/>
              <a:t>分，</a:t>
            </a:r>
            <a:r>
              <a:rPr lang="en-US" altLang="zh-CN" b="1" dirty="0"/>
              <a:t>ANN</a:t>
            </a:r>
            <a:r>
              <a:rPr lang="zh-CN" altLang="en-US" b="1" dirty="0"/>
              <a:t>、</a:t>
            </a:r>
            <a:r>
              <a:rPr lang="en-US" altLang="zh-CN" b="1" dirty="0"/>
              <a:t>NTT</a:t>
            </a:r>
            <a:r>
              <a:rPr lang="zh-CN" altLang="en-US" b="1" dirty="0"/>
              <a:t>、密码学</a:t>
            </a:r>
            <a:r>
              <a:rPr lang="en-US" altLang="zh-CN" b="1" dirty="0"/>
              <a:t>10%</a:t>
            </a:r>
            <a:r>
              <a:rPr lang="zh-CN" altLang="en-US" b="1" dirty="0"/>
              <a:t>分数</a:t>
            </a:r>
            <a:r>
              <a:rPr lang="en-US" altLang="zh-CN" b="1" dirty="0"/>
              <a:t>1.5</a:t>
            </a:r>
            <a:r>
              <a:rPr lang="zh-CN" altLang="en-US" b="1" dirty="0"/>
              <a:t>分，</a:t>
            </a:r>
            <a:r>
              <a:rPr lang="en-US" altLang="zh-CN" b="1" dirty="0"/>
              <a:t>SVD</a:t>
            </a:r>
            <a:r>
              <a:rPr lang="zh-CN" altLang="en-US" b="1" dirty="0"/>
              <a:t>算子会根据完成情况提高总分、但总分不会超过</a:t>
            </a:r>
            <a:r>
              <a:rPr lang="en-US" altLang="zh-CN" b="1" dirty="0"/>
              <a:t>15</a:t>
            </a:r>
            <a:r>
              <a:rPr lang="zh-CN" altLang="en-US" b="1" dirty="0"/>
              <a:t>）</a:t>
            </a:r>
            <a:endParaRPr lang="zh-CN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手工编写的</a:t>
            </a:r>
            <a:r>
              <a:rPr lang="en-US" altLang="zh-CN" dirty="0"/>
              <a:t>SIMD</a:t>
            </a:r>
            <a:r>
              <a:rPr lang="zh-CN" altLang="en-US" dirty="0"/>
              <a:t>程序与编译器自动向量化版本的对比实验及性能分析；</a:t>
            </a:r>
            <a:endParaRPr lang="en-US" altLang="zh-CN" dirty="0"/>
          </a:p>
          <a:p>
            <a:pPr marL="342900" lvl="0" indent="-342900">
              <a:buFont typeface="+mj-lt"/>
              <a:buAutoNum type="arabicPeriod"/>
            </a:pPr>
            <a:r>
              <a:rPr lang="zh-CN" altLang="en-US" dirty="0"/>
              <a:t>不同平台</a:t>
            </a:r>
            <a:r>
              <a:rPr lang="en-US" altLang="zh-CN" dirty="0"/>
              <a:t>SIMD</a:t>
            </a:r>
            <a:r>
              <a:rPr lang="zh-CN" altLang="en-US" dirty="0"/>
              <a:t>并行化的对比实验及性能分析，如</a:t>
            </a:r>
            <a:r>
              <a:rPr lang="en-US" altLang="zh-CN" dirty="0"/>
              <a:t>x86</a:t>
            </a:r>
            <a:r>
              <a:rPr lang="zh-CN" altLang="en-US" dirty="0"/>
              <a:t>平台对比</a:t>
            </a:r>
            <a:r>
              <a:rPr lang="en-US" altLang="zh-CN" dirty="0"/>
              <a:t>ARM</a:t>
            </a:r>
            <a:r>
              <a:rPr lang="zh-CN" altLang="en-US" dirty="0"/>
              <a:t>平台；</a:t>
            </a:r>
            <a:endParaRPr lang="en-US" altLang="zh-CN" dirty="0"/>
          </a:p>
          <a:p>
            <a:pPr marL="342900" lvl="0" indent="-342900">
              <a:buFont typeface="+mj-lt"/>
              <a:buAutoNum type="arabicPeriod"/>
            </a:pPr>
            <a:r>
              <a:rPr lang="zh-CN" altLang="en-US" dirty="0"/>
              <a:t>其他算法优化策略；</a:t>
            </a:r>
            <a:endParaRPr lang="en-US" altLang="zh-CN" dirty="0"/>
          </a:p>
          <a:p>
            <a:pPr marL="342900" lvl="0" indent="-342900">
              <a:buFont typeface="+mj-lt"/>
              <a:buAutoNum type="arabicPeriod"/>
            </a:pPr>
            <a:r>
              <a:rPr lang="zh-CN" altLang="en-US" dirty="0"/>
              <a:t>利用生成式</a:t>
            </a:r>
            <a:r>
              <a:rPr lang="en-US" altLang="zh-CN" dirty="0"/>
              <a:t>AI</a:t>
            </a:r>
            <a:r>
              <a:rPr lang="zh-CN" altLang="en-US" dirty="0"/>
              <a:t>（大语言模型）技术辅助</a:t>
            </a:r>
            <a:r>
              <a:rPr lang="en-US" altLang="zh-CN" dirty="0"/>
              <a:t>SIMD</a:t>
            </a:r>
            <a:r>
              <a:rPr lang="zh-CN" altLang="en-US" dirty="0"/>
              <a:t>编程的学习，将与大模型的对话记录作为报告附录提交；</a:t>
            </a:r>
            <a:endParaRPr lang="en-US" altLang="zh-CN" dirty="0"/>
          </a:p>
          <a:p>
            <a:pPr marL="342900" lvl="0" indent="-342900">
              <a:buFont typeface="+mj-lt"/>
              <a:buAutoNum type="arabicPeriod"/>
            </a:pPr>
            <a:r>
              <a:rPr lang="zh-CN" altLang="en-US" dirty="0"/>
              <a:t>其他自由发挥。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b="1" dirty="0"/>
              <a:t>注意：</a:t>
            </a:r>
            <a:r>
              <a:rPr lang="zh-CN" altLang="en-US" dirty="0"/>
              <a:t>这部分评分会比基础要求更严格，要获得分数，必须是真正深入探索，而不是堆工作量：</a:t>
            </a:r>
            <a:endParaRPr lang="en-US" altLang="zh-CN" dirty="0"/>
          </a:p>
          <a:p>
            <a:r>
              <a:rPr lang="zh-CN" altLang="en-US" dirty="0"/>
              <a:t>例如，对于</a:t>
            </a:r>
            <a:r>
              <a:rPr lang="en-US" altLang="zh-CN" dirty="0"/>
              <a:t>1</a:t>
            </a:r>
            <a:r>
              <a:rPr lang="zh-CN" altLang="en-US" dirty="0"/>
              <a:t>，不能简单列出两个版本的（汇编）程序，描述一下程序流程，而是要深入分析（汇编）代码差异是如何导致性能差异的，甚至要深入到时钟周期层面的性能分析。</a:t>
            </a:r>
            <a:endParaRPr lang="en-US" altLang="zh-CN" dirty="0"/>
          </a:p>
          <a:p>
            <a:r>
              <a:rPr lang="zh-CN" altLang="en-US" dirty="0"/>
              <a:t>再如，对于</a:t>
            </a:r>
            <a:r>
              <a:rPr lang="en-US" altLang="zh-CN" dirty="0"/>
              <a:t>2</a:t>
            </a:r>
            <a:r>
              <a:rPr lang="zh-CN" altLang="en-US" dirty="0"/>
              <a:t>，不能简单地将</a:t>
            </a:r>
            <a:r>
              <a:rPr lang="en-US" altLang="zh-CN" dirty="0"/>
              <a:t>x86</a:t>
            </a:r>
            <a:r>
              <a:rPr lang="zh-CN" altLang="en-US" dirty="0"/>
              <a:t>平台所做工作在</a:t>
            </a:r>
            <a:r>
              <a:rPr lang="en-US" altLang="zh-CN" dirty="0"/>
              <a:t>ARM</a:t>
            </a:r>
            <a:r>
              <a:rPr lang="zh-CN" altLang="en-US" dirty="0"/>
              <a:t>平台重复一遍，还是要对比差异，深入分析两个平台的架构差异是如何体现为</a:t>
            </a:r>
            <a:r>
              <a:rPr lang="en-US" altLang="zh-CN" dirty="0"/>
              <a:t>SIMD</a:t>
            </a:r>
            <a:r>
              <a:rPr lang="zh-CN" altLang="en-US" dirty="0"/>
              <a:t>并行化性能差异的。</a:t>
            </a:r>
            <a:endParaRPr lang="en-US" altLang="zh-CN" dirty="0"/>
          </a:p>
          <a:p>
            <a:r>
              <a:rPr lang="zh-CN" altLang="en-US" dirty="0"/>
              <a:t>再如，对于</a:t>
            </a:r>
            <a:r>
              <a:rPr lang="en-US" altLang="zh-CN" dirty="0"/>
              <a:t>4</a:t>
            </a:r>
            <a:r>
              <a:rPr lang="zh-CN" altLang="en-US" dirty="0"/>
              <a:t>，描述清楚问题、让大模型直接给你完整的</a:t>
            </a:r>
            <a:r>
              <a:rPr lang="en-US" altLang="zh-CN" dirty="0"/>
              <a:t>SIMD</a:t>
            </a:r>
            <a:r>
              <a:rPr lang="zh-CN" altLang="en-US" dirty="0"/>
              <a:t>程序，这是得不到分数的。应该是，你对算法设计、实验方案有自己的思考，将初步设计交给大模型，让它提出建议，你再进行改进。对于进阶要求，你请大模型提供一些可能的探索方向，你对这些方向进行研究、提出方案，再交给大模型讨论，然后你继续改进，等等，这样，真正是借助大模型辅助你学习，而不是取代你完成作业，才会给较好的分数。</a:t>
            </a:r>
            <a:endParaRPr lang="en-US" altLang="zh-CN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BAAD9DE-EB78-4700-A73F-C2061EC1FF9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sp>
        <p:nvSpPr>
          <p:cNvPr id="12" name="矩形 11" hidden="1">
            <a:extLst>
              <a:ext uri="{FF2B5EF4-FFF2-40B4-BE49-F238E27FC236}">
                <a16:creationId xmlns:a16="http://schemas.microsoft.com/office/drawing/2014/main" id="{7A532EE4-4327-46BD-BB9E-53F7E23F9151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7" name="文本框 16" hidden="1">
            <a:extLst>
              <a:ext uri="{FF2B5EF4-FFF2-40B4-BE49-F238E27FC236}">
                <a16:creationId xmlns:a16="http://schemas.microsoft.com/office/drawing/2014/main" id="{1DC77BFC-C8B6-4964-B43B-DCB46B4513E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18" name="文本框 17" hidden="1">
            <a:extLst>
              <a:ext uri="{FF2B5EF4-FFF2-40B4-BE49-F238E27FC236}">
                <a16:creationId xmlns:a16="http://schemas.microsoft.com/office/drawing/2014/main" id="{2F3BA613-906C-4F7E-9545-5B4E18EE593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350000" y="1270000"/>
            <a:ext cx="4612640" cy="190500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此处添加答案解析</a:t>
            </a:r>
          </a:p>
        </p:txBody>
      </p:sp>
      <p:grpSp>
        <p:nvGrpSpPr>
          <p:cNvPr id="16" name="组合 15" hidden="1">
            <a:extLst>
              <a:ext uri="{FF2B5EF4-FFF2-40B4-BE49-F238E27FC236}">
                <a16:creationId xmlns:a16="http://schemas.microsoft.com/office/drawing/2014/main" id="{8094A5E6-38E2-421E-9349-DAD6344CA4F6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13" name="RemarkBack" hidden="1">
              <a:extLst>
                <a:ext uri="{FF2B5EF4-FFF2-40B4-BE49-F238E27FC236}">
                  <a16:creationId xmlns:a16="http://schemas.microsoft.com/office/drawing/2014/main" id="{E151523A-162A-4DC7-8B3A-4E8646C6824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RemarkBlock" hidden="1">
              <a:extLst>
                <a:ext uri="{FF2B5EF4-FFF2-40B4-BE49-F238E27FC236}">
                  <a16:creationId xmlns:a16="http://schemas.microsoft.com/office/drawing/2014/main" id="{46CB9BE8-ABF5-476E-AEF1-0A391167ED5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RemarkTitleText" hidden="1">
              <a:extLst>
                <a:ext uri="{FF2B5EF4-FFF2-40B4-BE49-F238E27FC236}">
                  <a16:creationId xmlns:a16="http://schemas.microsoft.com/office/drawing/2014/main" id="{DE3F1CD5-B80D-44A8-9477-23D015EAB726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DF90F35-0C7F-426F-8EAB-71862230F6D9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DF222A90-94AC-4E86-8347-C91EF71E85A7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0ADDDE70-69FC-43F6-8995-F5149CF5ECB1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BFBDE1A9-C343-4924-BF9E-8B9BE6BF2BD8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400DF923-22EE-45B8-B11F-B69D1BBF1255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dirty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15</a:t>
              </a:r>
              <a:r>
                <a:rPr lang="zh-CN" altLang="en-US" sz="2000" dirty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8EC1FD1B-47AE-4EDD-A64E-A87102C7E234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6693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Titl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Scor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HASREMARK" val="False"/>
  <p:tag name="PROBLEMSCORE" val="10.0"/>
  <p:tag name="PROBLEMVOICEALLOWED" val="Fals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HASREMARK" val="False"/>
  <p:tag name="PROBLEMSCORE" val="10.0"/>
  <p:tag name="PROBLEMVOICEALLOWED" val="Fals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558</TotalTime>
  <Words>883</Words>
  <Application>Microsoft Office PowerPoint</Application>
  <PresentationFormat>全屏显示(16:10)</PresentationFormat>
  <Paragraphs>40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Microsoft Yahei</vt:lpstr>
      <vt:lpstr>等线</vt:lpstr>
      <vt:lpstr>等线 Light</vt:lpstr>
      <vt:lpstr>Arial</vt:lpstr>
      <vt:lpstr>Office 主题​​</vt:lpstr>
      <vt:lpstr>SIMD编程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预备工作2 定义你的编译器功能 &amp; 汇编编程</dc:title>
  <dc:creator>王 刚</dc:creator>
  <cp:lastModifiedBy>Administrator</cp:lastModifiedBy>
  <cp:revision>54</cp:revision>
  <dcterms:created xsi:type="dcterms:W3CDTF">2019-09-29T04:07:54Z</dcterms:created>
  <dcterms:modified xsi:type="dcterms:W3CDTF">2026-04-07T01:41:14Z</dcterms:modified>
</cp:coreProperties>
</file>